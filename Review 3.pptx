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5" r:id="rId6"/>
    <p:sldId id="305" r:id="rId7"/>
    <p:sldId id="314" r:id="rId8"/>
    <p:sldId id="291" r:id="rId9"/>
    <p:sldId id="307" r:id="rId10"/>
    <p:sldId id="292" r:id="rId11"/>
    <p:sldId id="332" r:id="rId12"/>
    <p:sldId id="333" r:id="rId13"/>
    <p:sldId id="297" r:id="rId14"/>
    <p:sldId id="326" r:id="rId15"/>
    <p:sldId id="327" r:id="rId16"/>
    <p:sldId id="328" r:id="rId17"/>
    <p:sldId id="329" r:id="rId18"/>
    <p:sldId id="334" r:id="rId19"/>
    <p:sldId id="335" r:id="rId20"/>
    <p:sldId id="336" r:id="rId21"/>
    <p:sldId id="331" r:id="rId22"/>
    <p:sldId id="337" r:id="rId23"/>
    <p:sldId id="338" r:id="rId24"/>
    <p:sldId id="302" r:id="rId25"/>
    <p:sldId id="303" r:id="rId26"/>
  </p:sldIdLst>
  <p:sldSz cx="9144000" cy="5143500"/>
  <p:notesSz cx="6858000" cy="9144000"/>
  <p:embeddedFontLst>
    <p:embeddedFont>
      <p:font typeface="Algerian" panose="04020705040A02060702" charset="0"/>
      <p:regular r:id="rId30"/>
    </p:embeddedFont>
    <p:embeddedFont>
      <p:font typeface="Comic Sans MS" panose="030F0702030302020204" charset="0"/>
      <p:regular r:id="rId31"/>
      <p:bold r:id="rId32"/>
      <p:italic r:id="rId33"/>
      <p:boldItalic r:id="rId34"/>
    </p:embeddedFont>
    <p:embeddedFont>
      <p:font typeface="Merriweather" panose="00000500000000000000"/>
      <p:regular r:id="rId35"/>
      <p:bold r:id="rId36"/>
      <p:italic r:id="rId37"/>
      <p:boldItalic r:id="rId38"/>
    </p:embeddedFont>
    <p:embeddedFont>
      <p:font typeface="Cambria Math" panose="02040503050406030204"/>
      <p:regular r:id="rId39"/>
    </p:embeddedFont>
    <p:embeddedFont>
      <p:font typeface="Algerian" panose="04020705040A02060702"/>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76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1.fntdata"/><Relationship Id="rId4" Type="http://schemas.openxmlformats.org/officeDocument/2006/relationships/notesMaster" Target="notesMasters/notesMaster1.xml"/><Relationship Id="rId39" Type="http://schemas.openxmlformats.org/officeDocument/2006/relationships/font" Target="fonts/font10.fntdata"/><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Титульный слайд">
  <p:cSld name="TITLE">
    <p:bg>
      <p:bgPr>
        <a:blipFill>
          <a:blip r:embed="rId2"/>
          <a:stretch>
            <a:fillRect/>
          </a:stretch>
        </a:blipFill>
        <a:effectLst/>
      </p:bgPr>
    </p:bg>
    <p:spTree>
      <p:nvGrpSpPr>
        <p:cNvPr id="8" name="Shape 8"/>
        <p:cNvGrpSpPr/>
        <p:nvPr/>
      </p:nvGrpSpPr>
      <p:grpSpPr>
        <a:xfrm>
          <a:off x="0" y="0"/>
          <a:ext cx="0" cy="0"/>
          <a:chOff x="0" y="0"/>
          <a:chExt cx="0" cy="0"/>
        </a:xfrm>
      </p:grpSpPr>
      <p:sp>
        <p:nvSpPr>
          <p:cNvPr id="9" name="Google Shape;9;p2"/>
          <p:cNvSpPr txBox="1"/>
          <p:nvPr>
            <p:ph type="ctrTitle"/>
          </p:nvPr>
        </p:nvSpPr>
        <p:spPr>
          <a:xfrm>
            <a:off x="179388" y="1924050"/>
            <a:ext cx="4176600" cy="670200"/>
          </a:xfrm>
          <a:prstGeom prst="rect">
            <a:avLst/>
          </a:prstGeom>
          <a:noFill/>
          <a:ln>
            <a:noFill/>
          </a:ln>
          <a:effectLst>
            <a:outerShdw dist="17961" dir="2700000" algn="ctr" rotWithShape="0">
              <a:schemeClr val="lt2"/>
            </a:outerShdw>
          </a:effectLst>
        </p:spPr>
        <p:txBody>
          <a:bodyPr spcFirstLastPara="1" wrap="square" lIns="91425" tIns="45700" rIns="91425" bIns="45700" anchor="ctr"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 name="Google Shape;10;p2"/>
          <p:cNvSpPr txBox="1"/>
          <p:nvPr>
            <p:ph type="subTitle" idx="1"/>
          </p:nvPr>
        </p:nvSpPr>
        <p:spPr>
          <a:xfrm>
            <a:off x="179388" y="2518172"/>
            <a:ext cx="4176600" cy="377400"/>
          </a:xfrm>
          <a:prstGeom prst="rect">
            <a:avLst/>
          </a:prstGeom>
          <a:noFill/>
          <a:ln>
            <a:noFill/>
          </a:ln>
          <a:effectLst>
            <a:outerShdw dist="17961" dir="2700000" algn="ctr" rotWithShape="0">
              <a:schemeClr val="lt2"/>
            </a:outerShdw>
          </a:effectLst>
        </p:spPr>
        <p:txBody>
          <a:bodyPr spcFirstLastPara="1" wrap="square" lIns="91425" tIns="45700" rIns="91425" bIns="45700" anchor="t" anchorCtr="0">
            <a:noAutofit/>
          </a:bodyPr>
          <a:lstStyle>
            <a:lvl1pPr lvl="0" algn="l">
              <a:spcBef>
                <a:spcPts val="400"/>
              </a:spcBef>
              <a:spcAft>
                <a:spcPts val="0"/>
              </a:spcAft>
              <a:buClr>
                <a:schemeClr val="lt1"/>
              </a:buClr>
              <a:buSzPts val="2000"/>
              <a:buFont typeface="Arial" panose="020B0604020202020204"/>
              <a:buNone/>
              <a:defRPr sz="2000" b="1"/>
            </a:lvl1pPr>
            <a:lvl2pPr lvl="1" algn="l">
              <a:spcBef>
                <a:spcPts val="360"/>
              </a:spcBef>
              <a:spcAft>
                <a:spcPts val="0"/>
              </a:spcAft>
              <a:buClr>
                <a:schemeClr val="lt1"/>
              </a:buClr>
              <a:buSzPts val="1800"/>
              <a:buChar char="–"/>
              <a:defRPr/>
            </a:lvl2pPr>
            <a:lvl3pPr lvl="2" algn="l">
              <a:spcBef>
                <a:spcPts val="360"/>
              </a:spcBef>
              <a:spcAft>
                <a:spcPts val="0"/>
              </a:spcAft>
              <a:buClr>
                <a:schemeClr val="lt1"/>
              </a:buClr>
              <a:buSzPts val="1800"/>
              <a:buChar char="•"/>
              <a:defRPr/>
            </a:lvl3pPr>
            <a:lvl4pPr lvl="3" algn="l">
              <a:spcBef>
                <a:spcPts val="360"/>
              </a:spcBef>
              <a:spcAft>
                <a:spcPts val="0"/>
              </a:spcAft>
              <a:buClr>
                <a:schemeClr val="lt1"/>
              </a:buClr>
              <a:buSzPts val="1800"/>
              <a:buChar char="–"/>
              <a:defRPr/>
            </a:lvl4pPr>
            <a:lvl5pPr lvl="4" algn="l">
              <a:spcBef>
                <a:spcPts val="360"/>
              </a:spcBef>
              <a:spcAft>
                <a:spcPts val="0"/>
              </a:spcAft>
              <a:buClr>
                <a:schemeClr val="lt1"/>
              </a:buClr>
              <a:buSzPts val="1800"/>
              <a:buChar char="»"/>
              <a:defRPr/>
            </a:lvl5pPr>
            <a:lvl6pPr lvl="5" algn="l">
              <a:spcBef>
                <a:spcPts val="360"/>
              </a:spcBef>
              <a:spcAft>
                <a:spcPts val="0"/>
              </a:spcAft>
              <a:buClr>
                <a:schemeClr val="lt1"/>
              </a:buClr>
              <a:buSzPts val="1800"/>
              <a:buChar char="»"/>
              <a:defRPr/>
            </a:lvl6pPr>
            <a:lvl7pPr lvl="6" algn="l">
              <a:spcBef>
                <a:spcPts val="360"/>
              </a:spcBef>
              <a:spcAft>
                <a:spcPts val="0"/>
              </a:spcAft>
              <a:buClr>
                <a:schemeClr val="lt1"/>
              </a:buClr>
              <a:buSzPts val="1800"/>
              <a:buChar char="»"/>
              <a:defRPr/>
            </a:lvl7pPr>
            <a:lvl8pPr lvl="7" algn="l">
              <a:spcBef>
                <a:spcPts val="360"/>
              </a:spcBef>
              <a:spcAft>
                <a:spcPts val="0"/>
              </a:spcAft>
              <a:buClr>
                <a:schemeClr val="lt1"/>
              </a:buClr>
              <a:buSzPts val="1800"/>
              <a:buChar char="»"/>
              <a:defRPr/>
            </a:lvl8pPr>
            <a:lvl9pPr lvl="8"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Заголовок и объект">
  <p:cSld name="OBJECT">
    <p:spTree>
      <p:nvGrpSpPr>
        <p:cNvPr id="11" name="Shape 11"/>
        <p:cNvGrpSpPr/>
        <p:nvPr/>
      </p:nvGrpSpPr>
      <p:grpSpPr>
        <a:xfrm>
          <a:off x="0" y="0"/>
          <a:ext cx="0" cy="0"/>
          <a:chOff x="0" y="0"/>
          <a:chExt cx="0" cy="0"/>
        </a:xfrm>
      </p:grpSpPr>
      <p:sp>
        <p:nvSpPr>
          <p:cNvPr id="12" name="Google Shape;12;p3"/>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Заголовок раздела">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722313" y="3305175"/>
            <a:ext cx="7772400" cy="1021500"/>
          </a:xfrm>
          <a:prstGeom prst="rect">
            <a:avLst/>
          </a:prstGeom>
          <a:noFill/>
          <a:ln>
            <a:noFill/>
          </a:ln>
          <a:effectLst>
            <a:outerShdw dist="17961" dir="2700000" algn="ctr" rotWithShape="0">
              <a:schemeClr val="lt1"/>
            </a:outerShdw>
          </a:effectLst>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type="body" idx="1"/>
          </p:nvPr>
        </p:nvSpPr>
        <p:spPr>
          <a:xfrm>
            <a:off x="722313" y="2180035"/>
            <a:ext cx="7772400" cy="112500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lt1"/>
              </a:buClr>
              <a:buSzPts val="2000"/>
              <a:buFont typeface="Arial" panose="020B0604020202020204"/>
              <a:buNone/>
              <a:defRPr sz="2000"/>
            </a:lvl1pPr>
            <a:lvl2pPr marL="914400" lvl="1" indent="-228600" algn="l">
              <a:spcBef>
                <a:spcPts val="360"/>
              </a:spcBef>
              <a:spcAft>
                <a:spcPts val="0"/>
              </a:spcAft>
              <a:buClr>
                <a:schemeClr val="lt1"/>
              </a:buClr>
              <a:buSzPts val="1800"/>
              <a:buFont typeface="Arial" panose="020B0604020202020204"/>
              <a:buNone/>
              <a:defRPr sz="1800"/>
            </a:lvl2pPr>
            <a:lvl3pPr marL="1371600" lvl="2" indent="-228600" algn="l">
              <a:spcBef>
                <a:spcPts val="320"/>
              </a:spcBef>
              <a:spcAft>
                <a:spcPts val="0"/>
              </a:spcAft>
              <a:buClr>
                <a:schemeClr val="lt1"/>
              </a:buClr>
              <a:buSzPts val="1600"/>
              <a:buFont typeface="Arial" panose="020B0604020202020204"/>
              <a:buNone/>
              <a:defRPr sz="1600"/>
            </a:lvl3pPr>
            <a:lvl4pPr marL="1828800" lvl="3" indent="-228600" algn="l">
              <a:spcBef>
                <a:spcPts val="280"/>
              </a:spcBef>
              <a:spcAft>
                <a:spcPts val="0"/>
              </a:spcAft>
              <a:buClr>
                <a:schemeClr val="lt1"/>
              </a:buClr>
              <a:buSzPts val="1400"/>
              <a:buFont typeface="Arial" panose="020B0604020202020204"/>
              <a:buNone/>
              <a:defRPr sz="1400"/>
            </a:lvl4pPr>
            <a:lvl5pPr marL="2286000" lvl="4" indent="-228600" algn="l">
              <a:spcBef>
                <a:spcPts val="280"/>
              </a:spcBef>
              <a:spcAft>
                <a:spcPts val="0"/>
              </a:spcAft>
              <a:buClr>
                <a:schemeClr val="lt1"/>
              </a:buClr>
              <a:buSzPts val="1400"/>
              <a:buFont typeface="Arial" panose="020B0604020202020204"/>
              <a:buNone/>
              <a:defRPr sz="1400"/>
            </a:lvl5pPr>
            <a:lvl6pPr marL="2743200" lvl="5" indent="-228600" algn="l">
              <a:spcBef>
                <a:spcPts val="280"/>
              </a:spcBef>
              <a:spcAft>
                <a:spcPts val="0"/>
              </a:spcAft>
              <a:buClr>
                <a:schemeClr val="lt1"/>
              </a:buClr>
              <a:buSzPts val="1400"/>
              <a:buFont typeface="Arial" panose="020B0604020202020204"/>
              <a:buNone/>
              <a:defRPr sz="1400"/>
            </a:lvl6pPr>
            <a:lvl7pPr marL="3200400" lvl="6" indent="-228600" algn="l">
              <a:spcBef>
                <a:spcPts val="280"/>
              </a:spcBef>
              <a:spcAft>
                <a:spcPts val="0"/>
              </a:spcAft>
              <a:buClr>
                <a:schemeClr val="lt1"/>
              </a:buClr>
              <a:buSzPts val="1400"/>
              <a:buFont typeface="Arial" panose="020B0604020202020204"/>
              <a:buNone/>
              <a:defRPr sz="1400"/>
            </a:lvl7pPr>
            <a:lvl8pPr marL="3657600" lvl="7" indent="-228600" algn="l">
              <a:spcBef>
                <a:spcPts val="280"/>
              </a:spcBef>
              <a:spcAft>
                <a:spcPts val="0"/>
              </a:spcAft>
              <a:buClr>
                <a:schemeClr val="lt1"/>
              </a:buClr>
              <a:buSzPts val="1400"/>
              <a:buFont typeface="Arial" panose="020B0604020202020204"/>
              <a:buNone/>
              <a:defRPr sz="1400"/>
            </a:lvl8pPr>
            <a:lvl9pPr marL="4114800" lvl="8" indent="-228600" algn="l">
              <a:spcBef>
                <a:spcPts val="280"/>
              </a:spcBef>
              <a:spcAft>
                <a:spcPts val="0"/>
              </a:spcAft>
              <a:buClr>
                <a:schemeClr val="lt1"/>
              </a:buClr>
              <a:buSzPts val="1400"/>
              <a:buFont typeface="Arial" panose="020B0604020202020204"/>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Два объекта">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type="body" idx="1"/>
          </p:nvPr>
        </p:nvSpPr>
        <p:spPr>
          <a:xfrm>
            <a:off x="1619250" y="897731"/>
            <a:ext cx="31638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
        <p:nvSpPr>
          <p:cNvPr id="20" name="Google Shape;20;p5"/>
          <p:cNvSpPr txBox="1"/>
          <p:nvPr>
            <p:ph type="body" idx="2"/>
          </p:nvPr>
        </p:nvSpPr>
        <p:spPr>
          <a:xfrm>
            <a:off x="4935538" y="897731"/>
            <a:ext cx="31656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Сравнение">
  <p:cSld name="TWO_OBJECTS_WITH_TEXT">
    <p:spTree>
      <p:nvGrpSpPr>
        <p:cNvPr id="21" name="Shape 21"/>
        <p:cNvGrpSpPr/>
        <p:nvPr/>
      </p:nvGrpSpPr>
      <p:grpSpPr>
        <a:xfrm>
          <a:off x="0" y="0"/>
          <a:ext cx="0" cy="0"/>
          <a:chOff x="0" y="0"/>
          <a:chExt cx="0" cy="0"/>
        </a:xfrm>
      </p:grpSpPr>
      <p:sp>
        <p:nvSpPr>
          <p:cNvPr id="22" name="Google Shape;22;p6"/>
          <p:cNvSpPr txBox="1"/>
          <p:nvPr>
            <p:ph type="title"/>
          </p:nvPr>
        </p:nvSpPr>
        <p:spPr>
          <a:xfrm>
            <a:off x="457200" y="205978"/>
            <a:ext cx="8229600" cy="8574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
          <p:cNvSpPr txBox="1"/>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4" name="Google Shape;24;p6"/>
          <p:cNvSpPr txBox="1"/>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
        <p:nvSpPr>
          <p:cNvPr id="25" name="Google Shape;25;p6"/>
          <p:cNvSpPr txBox="1"/>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6" name="Google Shape;26;p6"/>
          <p:cNvSpPr txBox="1"/>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Только заголовок">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Пустой слайд">
  <p:cSld name="BLANK">
    <p:spTree>
      <p:nvGrpSpPr>
        <p:cNvPr id="29"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Объект с подписью">
  <p:cSld name="OBJECT_WITH_CAPTION_TEXT">
    <p:spTree>
      <p:nvGrpSpPr>
        <p:cNvPr id="30" name="Shape 30"/>
        <p:cNvGrpSpPr/>
        <p:nvPr/>
      </p:nvGrpSpPr>
      <p:grpSpPr>
        <a:xfrm>
          <a:off x="0" y="0"/>
          <a:ext cx="0" cy="0"/>
          <a:chOff x="0" y="0"/>
          <a:chExt cx="0" cy="0"/>
        </a:xfrm>
      </p:grpSpPr>
      <p:sp>
        <p:nvSpPr>
          <p:cNvPr id="31" name="Google Shape;31;p9"/>
          <p:cNvSpPr txBox="1"/>
          <p:nvPr>
            <p:ph type="title"/>
          </p:nvPr>
        </p:nvSpPr>
        <p:spPr>
          <a:xfrm>
            <a:off x="457200" y="204788"/>
            <a:ext cx="3008400" cy="8715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lt1"/>
              </a:buClr>
              <a:buSzPts val="3200"/>
              <a:buFont typeface="Arial" panose="020B0604020202020204"/>
              <a:buChar char="•"/>
              <a:defRPr sz="3200"/>
            </a:lvl1pPr>
            <a:lvl2pPr marL="914400" lvl="1" indent="-406400" algn="l">
              <a:spcBef>
                <a:spcPts val="560"/>
              </a:spcBef>
              <a:spcAft>
                <a:spcPts val="0"/>
              </a:spcAft>
              <a:buClr>
                <a:schemeClr val="lt1"/>
              </a:buClr>
              <a:buSzPts val="2800"/>
              <a:buFont typeface="Arial" panose="020B0604020202020204"/>
              <a:buChar char="–"/>
              <a:defRPr sz="2800"/>
            </a:lvl2pPr>
            <a:lvl3pPr marL="1371600" lvl="2" indent="-381000" algn="l">
              <a:spcBef>
                <a:spcPts val="480"/>
              </a:spcBef>
              <a:spcAft>
                <a:spcPts val="0"/>
              </a:spcAft>
              <a:buClr>
                <a:schemeClr val="lt1"/>
              </a:buClr>
              <a:buSzPts val="2400"/>
              <a:buFont typeface="Arial" panose="020B0604020202020204"/>
              <a:buChar char="•"/>
              <a:defRPr sz="2400"/>
            </a:lvl3pPr>
            <a:lvl4pPr marL="1828800" lvl="3" indent="-355600" algn="l">
              <a:spcBef>
                <a:spcPts val="400"/>
              </a:spcBef>
              <a:spcAft>
                <a:spcPts val="0"/>
              </a:spcAft>
              <a:buClr>
                <a:schemeClr val="lt1"/>
              </a:buClr>
              <a:buSzPts val="2000"/>
              <a:buFont typeface="Arial" panose="020B0604020202020204"/>
              <a:buChar char="–"/>
              <a:defRPr sz="2000"/>
            </a:lvl4pPr>
            <a:lvl5pPr marL="2286000" lvl="4" indent="-355600" algn="l">
              <a:spcBef>
                <a:spcPts val="400"/>
              </a:spcBef>
              <a:spcAft>
                <a:spcPts val="0"/>
              </a:spcAft>
              <a:buClr>
                <a:schemeClr val="lt1"/>
              </a:buClr>
              <a:buSzPts val="2000"/>
              <a:buFont typeface="Arial" panose="020B0604020202020204"/>
              <a:buChar char="»"/>
              <a:defRPr sz="2000"/>
            </a:lvl5pPr>
            <a:lvl6pPr marL="2743200" lvl="5" indent="-355600" algn="l">
              <a:spcBef>
                <a:spcPts val="400"/>
              </a:spcBef>
              <a:spcAft>
                <a:spcPts val="0"/>
              </a:spcAft>
              <a:buClr>
                <a:schemeClr val="lt1"/>
              </a:buClr>
              <a:buSzPts val="2000"/>
              <a:buFont typeface="Arial" panose="020B0604020202020204"/>
              <a:buChar char="»"/>
              <a:defRPr sz="2000"/>
            </a:lvl6pPr>
            <a:lvl7pPr marL="3200400" lvl="6" indent="-355600" algn="l">
              <a:spcBef>
                <a:spcPts val="400"/>
              </a:spcBef>
              <a:spcAft>
                <a:spcPts val="0"/>
              </a:spcAft>
              <a:buClr>
                <a:schemeClr val="lt1"/>
              </a:buClr>
              <a:buSzPts val="2000"/>
              <a:buFont typeface="Arial" panose="020B0604020202020204"/>
              <a:buChar char="»"/>
              <a:defRPr sz="2000"/>
            </a:lvl7pPr>
            <a:lvl8pPr marL="3657600" lvl="7" indent="-355600" algn="l">
              <a:spcBef>
                <a:spcPts val="400"/>
              </a:spcBef>
              <a:spcAft>
                <a:spcPts val="0"/>
              </a:spcAft>
              <a:buClr>
                <a:schemeClr val="lt1"/>
              </a:buClr>
              <a:buSzPts val="2000"/>
              <a:buFont typeface="Arial" panose="020B0604020202020204"/>
              <a:buChar char="»"/>
              <a:defRPr sz="2000"/>
            </a:lvl8pPr>
            <a:lvl9pPr marL="4114800" lvl="8" indent="-355600" algn="l">
              <a:spcBef>
                <a:spcPts val="400"/>
              </a:spcBef>
              <a:spcAft>
                <a:spcPts val="0"/>
              </a:spcAft>
              <a:buClr>
                <a:schemeClr val="lt1"/>
              </a:buClr>
              <a:buSzPts val="2000"/>
              <a:buFont typeface="Arial" panose="020B0604020202020204"/>
              <a:buChar char="»"/>
              <a:defRPr sz="2000"/>
            </a:lvl9pPr>
          </a:lstStyle>
          <a:p/>
        </p:txBody>
      </p:sp>
      <p:sp>
        <p:nvSpPr>
          <p:cNvPr id="33" name="Google Shape;33;p9"/>
          <p:cNvSpPr txBox="1"/>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Рисунок с подписью">
  <p:cSld name="PICTURE_WITH_CAPTION_TEXT">
    <p:spTree>
      <p:nvGrpSpPr>
        <p:cNvPr id="34" name="Shape 34"/>
        <p:cNvGrpSpPr/>
        <p:nvPr/>
      </p:nvGrpSpPr>
      <p:grpSpPr>
        <a:xfrm>
          <a:off x="0" y="0"/>
          <a:ext cx="0" cy="0"/>
          <a:chOff x="0" y="0"/>
          <a:chExt cx="0" cy="0"/>
        </a:xfrm>
      </p:grpSpPr>
      <p:sp>
        <p:nvSpPr>
          <p:cNvPr id="35" name="Google Shape;35;p10"/>
          <p:cNvSpPr txBox="1"/>
          <p:nvPr>
            <p:ph type="title"/>
          </p:nvPr>
        </p:nvSpPr>
        <p:spPr>
          <a:xfrm>
            <a:off x="1792288" y="3600450"/>
            <a:ext cx="5486400" cy="4251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1"/>
              </a:buClr>
              <a:buSzPts val="3200"/>
              <a:buFont typeface="Arial" panose="020B0604020202020204"/>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560"/>
              </a:spcBef>
              <a:spcAft>
                <a:spcPts val="0"/>
              </a:spcAft>
              <a:buClr>
                <a:schemeClr val="lt1"/>
              </a:buClr>
              <a:buSzPts val="2800"/>
              <a:buFont typeface="Arial" panose="020B0604020202020204"/>
              <a:buNone/>
              <a:defRPr sz="28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480"/>
              </a:spcBef>
              <a:spcAft>
                <a:spcPts val="0"/>
              </a:spcAft>
              <a:buClr>
                <a:schemeClr val="lt1"/>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37" name="Google Shape;37;p10"/>
          <p:cNvSpPr txBox="1"/>
          <p:nvPr>
            <p:ph type="body" idx="1"/>
          </p:nvPr>
        </p:nvSpPr>
        <p:spPr>
          <a:xfrm>
            <a:off x="1792288" y="4025503"/>
            <a:ext cx="5486400" cy="6036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Заголовок и вертикальный текст">
  <p:cSld name="VERTICAL_TEXT">
    <p:spTree>
      <p:nvGrpSpPr>
        <p:cNvPr id="38" name="Shape 38"/>
        <p:cNvGrpSpPr/>
        <p:nvPr/>
      </p:nvGrpSpPr>
      <p:grpSpPr>
        <a:xfrm>
          <a:off x="0" y="0"/>
          <a:ext cx="0" cy="0"/>
          <a:chOff x="0" y="0"/>
          <a:chExt cx="0" cy="0"/>
        </a:xfrm>
      </p:grpSpPr>
      <p:sp>
        <p:nvSpPr>
          <p:cNvPr id="39" name="Google Shape;39;p1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type="body" idx="1"/>
          </p:nvPr>
        </p:nvSpPr>
        <p:spPr>
          <a:xfrm rot="5400000">
            <a:off x="3077813" y="-560869"/>
            <a:ext cx="3564600" cy="6481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Вертикальный заголовок и текст">
  <p:cSld name="VERTICAL_TITLE_AND_VERTICAL_TEXT">
    <p:spTree>
      <p:nvGrpSpPr>
        <p:cNvPr id="41" name="Shape 41"/>
        <p:cNvGrpSpPr/>
        <p:nvPr/>
      </p:nvGrpSpPr>
      <p:grpSpPr>
        <a:xfrm>
          <a:off x="0" y="0"/>
          <a:ext cx="0" cy="0"/>
          <a:chOff x="0" y="0"/>
          <a:chExt cx="0" cy="0"/>
        </a:xfrm>
      </p:grpSpPr>
      <p:sp>
        <p:nvSpPr>
          <p:cNvPr id="42" name="Google Shape;42;p12"/>
          <p:cNvSpPr txBox="1"/>
          <p:nvPr>
            <p:ph type="title"/>
          </p:nvPr>
        </p:nvSpPr>
        <p:spPr>
          <a:xfrm rot="5400000">
            <a:off x="5157863" y="1519313"/>
            <a:ext cx="4267200" cy="16191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type="body" idx="1"/>
          </p:nvPr>
        </p:nvSpPr>
        <p:spPr>
          <a:xfrm rot="5400000">
            <a:off x="1840763" y="-26137"/>
            <a:ext cx="4267200" cy="47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marR="0" lvl="0"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lt1"/>
              </a:buClr>
              <a:buSzPts val="2800"/>
              <a:buFont typeface="Arial" panose="020B0604020202020204"/>
              <a:buChar char="•"/>
              <a:defRPr sz="2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381000" algn="l" rtl="0">
              <a:spcBef>
                <a:spcPts val="480"/>
              </a:spcBef>
              <a:spcAft>
                <a:spcPts val="0"/>
              </a:spcAft>
              <a:buClr>
                <a:schemeClr val="lt1"/>
              </a:buClr>
              <a:buSzPts val="2400"/>
              <a:buFont typeface="Arial" panose="020B0604020202020204"/>
              <a:buChar char="–"/>
              <a:defRPr sz="2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lt1"/>
              </a:buClr>
              <a:buSzPts val="2400"/>
              <a:buFont typeface="Arial" panose="020B0604020202020204"/>
              <a:buChar char="•"/>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image" Target="../media/image5.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image" Target="../media/image6.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9.xml"/><Relationship Id="rId2" Type="http://schemas.openxmlformats.org/officeDocument/2006/relationships/image" Target="../media/image7.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311785" y="208280"/>
            <a:ext cx="8498205" cy="184721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HOSPITAL </a:t>
            </a:r>
            <a:r>
              <a:rPr 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Management System​</a:t>
            </a: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 USING MERN STACK</a:t>
            </a:r>
            <a:endPar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endParaRPr>
          </a:p>
        </p:txBody>
      </p:sp>
      <p:sp>
        <p:nvSpPr>
          <p:cNvPr id="49" name="Google Shape;49;p13"/>
          <p:cNvSpPr txBox="1"/>
          <p:nvPr>
            <p:ph type="subTitle" idx="1"/>
          </p:nvPr>
        </p:nvSpPr>
        <p:spPr>
          <a:xfrm>
            <a:off x="547370" y="2571750"/>
            <a:ext cx="5654675" cy="2313305"/>
          </a:xfrm>
          <a:prstGeom prst="rect">
            <a:avLst/>
          </a:prstGeom>
        </p:spPr>
        <p:txBody>
          <a:bodyPr spcFirstLastPara="1" wrap="square" lIns="91425" tIns="45700" rIns="91425" bIns="45700" anchor="t" anchorCtr="0">
            <a:noAutofit/>
          </a:bodyPr>
          <a:lstStyle/>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Name: </a:t>
            </a:r>
            <a:r>
              <a:rPr lang="en-GB" sz="2800" b="0">
                <a:latin typeface="Comic Sans MS" panose="030F0702030302020204" charset="0"/>
                <a:ea typeface="Merriweather" panose="00000500000000000000"/>
                <a:cs typeface="Comic Sans MS" panose="030F0702030302020204" charset="0"/>
                <a:sym typeface="Merriweather" panose="00000500000000000000"/>
              </a:rPr>
              <a:t>B Sahithya </a:t>
            </a:r>
            <a:endParaRPr lang="en-GB" sz="2800" b="0">
              <a:latin typeface="Comic Sans MS" panose="030F0702030302020204" charset="0"/>
              <a:ea typeface="Merriweather" panose="00000500000000000000"/>
              <a:cs typeface="Comic Sans MS" panose="030F0702030302020204" charset="0"/>
              <a:sym typeface="Merriweather" panose="00000500000000000000"/>
            </a:endParaRPr>
          </a:p>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Reg No: </a:t>
            </a:r>
            <a:r>
              <a:rPr lang="en-GB" sz="2800" b="0">
                <a:latin typeface="Comic Sans MS" panose="030F0702030302020204" charset="0"/>
                <a:ea typeface="Cambria Math" panose="02040503050406030204"/>
                <a:cs typeface="Comic Sans MS" panose="030F0702030302020204" charset="0"/>
                <a:sym typeface="Cambria Math" panose="02040503050406030204"/>
              </a:rPr>
              <a:t>20MIC0007</a:t>
            </a:r>
            <a:endParaRPr sz="2800">
              <a:latin typeface="Comic Sans MS" panose="030F0702030302020204" charset="0"/>
              <a:ea typeface="Cambria Math" panose="02040503050406030204"/>
              <a:cs typeface="Comic Sans MS" panose="030F0702030302020204" charset="0"/>
              <a:sym typeface="Cambria Math" panose="02040503050406030204"/>
            </a:endParaRPr>
          </a:p>
          <a:p>
            <a:pPr marL="457200" lvl="0" indent="0" algn="l" rtl="0">
              <a:spcBef>
                <a:spcPts val="400"/>
              </a:spcBef>
              <a:spcAft>
                <a:spcPts val="0"/>
              </a:spcAft>
              <a:buNone/>
            </a:pPr>
            <a:endParaRPr sz="2800">
              <a:latin typeface="Comic Sans MS" panose="030F0702030302020204" charset="0"/>
              <a:ea typeface="Cambria Math" panose="02040503050406030204"/>
              <a:cs typeface="Comic Sans MS" panose="030F0702030302020204" charset="0"/>
              <a:sym typeface="Cambria Math" panose="02040503050406030204"/>
            </a:endParaRPr>
          </a:p>
        </p:txBody>
      </p:sp>
      <p:sp>
        <p:nvSpPr>
          <p:cNvPr id="2" name="Text Box 1"/>
          <p:cNvSpPr txBox="1"/>
          <p:nvPr/>
        </p:nvSpPr>
        <p:spPr>
          <a:xfrm>
            <a:off x="7019290" y="4578350"/>
            <a:ext cx="1791335" cy="306705"/>
          </a:xfrm>
          <a:prstGeom prst="rect">
            <a:avLst/>
          </a:prstGeom>
          <a:noFill/>
        </p:spPr>
        <p:txBody>
          <a:bodyPr wrap="square" rtlCol="0">
            <a:spAutoFit/>
          </a:bodyPr>
          <a:p>
            <a:r>
              <a:rPr lang="en-US">
                <a:solidFill>
                  <a:schemeClr val="bg1"/>
                </a:solidFill>
                <a:latin typeface="Comic Sans MS" panose="030F0702030302020204" charset="0"/>
                <a:cs typeface="Comic Sans MS" panose="030F0702030302020204" charset="0"/>
              </a:rPr>
              <a:t>Date: 16/04/2025</a:t>
            </a:r>
            <a:endParaRPr lang="en-US">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56845" y="212090"/>
            <a:ext cx="8752205"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GB" sz="3400" u="sng">
                <a:latin typeface="Algerian" panose="04020705040A02060702"/>
                <a:ea typeface="Algerian" panose="04020705040A02060702"/>
                <a:cs typeface="Algerian" panose="04020705040A02060702"/>
                <a:sym typeface="Algerian" panose="04020705040A02060702"/>
              </a:rPr>
              <a:t>Overview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56210" y="1127125"/>
            <a:ext cx="4091305" cy="332422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GB" sz="2000">
                <a:latin typeface="Comic Sans MS" panose="030F0702030302020204" charset="0"/>
                <a:cs typeface="Comic Sans MS" panose="030F0702030302020204" charset="0"/>
              </a:rPr>
              <a:t>Introduction</a:t>
            </a:r>
            <a:endParaRPr 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Gaps identified</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Objectives</a:t>
            </a:r>
            <a:r>
              <a:rPr lang="en-GB" sz="2000">
                <a:latin typeface="Comic Sans MS" panose="030F0702030302020204" charset="0"/>
                <a:cs typeface="Comic Sans MS" panose="030F0702030302020204" charset="0"/>
              </a:rPr>
              <a:t> </a:t>
            </a:r>
            <a:endParaRPr 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Problem Statement</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Hardware Requirements</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Software Requirements</a:t>
            </a:r>
            <a:endParaRPr lang="en-US" altLang="en-GB" sz="2000">
              <a:latin typeface="Comic Sans MS" panose="030F0702030302020204" charset="0"/>
              <a:cs typeface="Comic Sans MS" panose="030F0702030302020204" charset="0"/>
            </a:endParaRPr>
          </a:p>
        </p:txBody>
      </p:sp>
      <p:sp>
        <p:nvSpPr>
          <p:cNvPr id="2" name="Text Box 1"/>
          <p:cNvSpPr txBox="1"/>
          <p:nvPr/>
        </p:nvSpPr>
        <p:spPr>
          <a:xfrm>
            <a:off x="4572635" y="1104900"/>
            <a:ext cx="4336415" cy="3347085"/>
          </a:xfrm>
          <a:prstGeom prst="rect">
            <a:avLst/>
          </a:prstGeom>
          <a:noFill/>
        </p:spPr>
        <p:txBody>
          <a:bodyPr wrap="square" rtlCol="0">
            <a:noAutofit/>
          </a:bodyPr>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Proposed Architecture</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Methodology Adapted</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Output Screenshots	</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Results and Discussion</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Conclusion and Future Work</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Reference Links</a:t>
            </a:r>
            <a:endParaRPr lang="en-US" altLang="en-GB" sz="2000">
              <a:solidFill>
                <a:schemeClr val="bg1"/>
              </a:solidFill>
              <a:latin typeface="Comic Sans MS" panose="030F0702030302020204" charset="0"/>
              <a:cs typeface="Comic Sans MS" panose="030F0702030302020204" charset="0"/>
            </a:endParaRPr>
          </a:p>
          <a:p>
            <a:pPr marL="0" indent="0">
              <a:buClr>
                <a:srgbClr val="FFFFFF"/>
              </a:buClr>
              <a:buFont typeface="Wingdings" panose="05000000000000000000" charset="0"/>
              <a:buChar char="q"/>
            </a:pPr>
            <a:endParaRPr lang="en-US" altLang="en-GB" sz="2000">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3870" y="212090"/>
            <a:ext cx="843026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85545"/>
            <a:ext cx="8428990" cy="3756025"/>
          </a:xfrm>
          <a:prstGeom prst="rect">
            <a:avLst/>
          </a:prstGeom>
        </p:spPr>
        <p:txBody>
          <a:bodyPr spcFirstLastPara="1" wrap="square" lIns="91425" tIns="45700" rIns="91425" bIns="45700" anchor="t" anchorCtr="0">
            <a:noAutofit/>
          </a:bodyPr>
          <a:lstStyle/>
          <a:p>
            <a:pPr marL="285750" indent="-285750" algn="just">
              <a:lnSpc>
                <a:spcPct val="150000"/>
              </a:lnSpc>
              <a:buFont typeface="Wingdings" panose="05000000000000000000" charset="0"/>
              <a:buChar char="q"/>
            </a:pPr>
            <a:r>
              <a:rPr lang="en-US" sz="1800" dirty="0">
                <a:latin typeface="Comic Sans MS" panose="030F0702030302020204" charset="0"/>
                <a:ea typeface="Open Sans" panose="020B0606030504020204" pitchFamily="34" charset="0"/>
                <a:cs typeface="Open Sans" panose="020B0606030504020204" pitchFamily="34" charset="0"/>
                <a:sym typeface="+mn-ea"/>
              </a:rPr>
              <a:t>A Hospital Management System (HMS) is a comprehensive software solution designed to streamline and automate various administrative, clinical, and financial processes within a healthcare facility.</a:t>
            </a:r>
            <a:endParaRPr lang="en-US" sz="1800" dirty="0">
              <a:latin typeface="Comic Sans MS" panose="030F0702030302020204" charset="0"/>
              <a:ea typeface="Open Sans" panose="020B0606030504020204" pitchFamily="34" charset="0"/>
              <a:cs typeface="Open Sans" panose="020B0606030504020204" pitchFamily="3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It incorporates a number of healthcare administration functions, such as prescription management, medical inventory management, doctor scheduling, and patient visits. </a:t>
            </a:r>
            <a:endParaRPr lang="en-GB" sz="1800">
              <a:latin typeface="Comic Sans MS" panose="030F0702030302020204" charset="0"/>
              <a:cs typeface="Comic Sans MS" panose="030F070203030202020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By digitizing and automating administrative and clinical tasks, an HMS improves the efficiency, accuracy, and quality of healthcare services.</a:t>
            </a:r>
            <a:endParaRPr lang="en-GB" sz="1800">
              <a:latin typeface="Comic Sans MS" panose="030F0702030302020204" charset="0"/>
              <a:cs typeface="Comic Sans MS" panose="030F07020303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5140" y="212090"/>
            <a:ext cx="842899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49350"/>
            <a:ext cx="8428990" cy="3813175"/>
          </a:xfrm>
          <a:prstGeom prst="rect">
            <a:avLst/>
          </a:prstGeom>
        </p:spPr>
        <p:txBody>
          <a:bodyPr spcFirstLastPara="1" wrap="square" lIns="91425" tIns="45700" rIns="91425" bIns="45700" anchor="t" anchorCtr="0">
            <a:noAutofit/>
          </a:bodyPr>
          <a:lstStyle/>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a:t>
            </a:r>
            <a:r>
              <a:rPr lang="en-GB" sz="1800">
                <a:latin typeface="Comic Sans MS" panose="030F0702030302020204" charset="0"/>
                <a:cs typeface="Comic Sans MS" panose="030F0702030302020204" charset="0"/>
              </a:rPr>
              <a:t>his HMS is built using the MERN stack—a combination of MongoDB, Express.js, React, and Node.js.</a:t>
            </a:r>
            <a:r>
              <a:rPr lang="en-US" altLang="en-GB" sz="1800">
                <a:latin typeface="Comic Sans MS" panose="030F0702030302020204" charset="0"/>
                <a:cs typeface="Comic Sans MS" panose="030F0702030302020204" charset="0"/>
              </a:rPr>
              <a:t> </a:t>
            </a:r>
            <a:r>
              <a:rPr lang="en-GB" sz="1800">
                <a:latin typeface="Comic Sans MS" panose="030F0702030302020204" charset="0"/>
                <a:cs typeface="Comic Sans MS" panose="030F0702030302020204" charset="0"/>
              </a:rPr>
              <a:t>Every element in the stack is essential to creating a cutting-edge, adaptable, and data-driven hospital management system</a:t>
            </a:r>
            <a:r>
              <a:rPr lang="en-US" altLang="en-GB" sz="1800">
                <a:latin typeface="Comic Sans MS" panose="030F0702030302020204" charset="0"/>
                <a:cs typeface="Comic Sans MS" panose="030F0702030302020204" charset="0"/>
              </a:rPr>
              <a:t>.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The MERN stack is widely used for developing full-stack web applications due to its flexibility, scalability, and efficiency.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Each component of the stack plays a crucial role in building a modern, responsive, and data-driven hospital management solution</a:t>
            </a:r>
            <a:endParaRPr lang="en-US" altLang="en-GB" sz="1800">
              <a:latin typeface="Comic Sans MS" panose="030F0702030302020204" charset="0"/>
              <a:cs typeface="Comic Sans MS" panose="030F07020303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 name="Text Placeholder 4"/>
          <p:cNvSpPr/>
          <p:nvPr>
            <p:ph type="body" idx="1"/>
          </p:nvPr>
        </p:nvSpPr>
        <p:spPr/>
        <p:txBody>
          <a:bodyPr/>
          <a:p>
            <a:pPr algn="ctr"/>
            <a:r>
              <a:rPr lang="en-US" sz="2000">
                <a:latin typeface="Algerian" panose="04020705040A02060702" charset="0"/>
                <a:cs typeface="Algerian" panose="04020705040A02060702" charset="0"/>
              </a:rPr>
              <a:t>Working of MERN Stack</a:t>
            </a:r>
            <a:endParaRPr lang="en-US" sz="2000">
              <a:latin typeface="Algerian" panose="04020705040A02060702" charset="0"/>
              <a:cs typeface="Algerian" panose="04020705040A02060702" charset="0"/>
            </a:endParaRPr>
          </a:p>
        </p:txBody>
      </p:sp>
      <p:pic>
        <p:nvPicPr>
          <p:cNvPr id="3" name="Picture Placeholder 2" descr="mern"/>
          <p:cNvPicPr>
            <a:picLocks noChangeAspect="1"/>
          </p:cNvPicPr>
          <p:nvPr>
            <p:ph type="pic" idx="2"/>
          </p:nvPr>
        </p:nvPicPr>
        <p:blipFill>
          <a:blip r:embed="rId2"/>
          <a:stretch>
            <a:fillRect/>
          </a:stretch>
        </p:blipFill>
        <p:spPr>
          <a:xfrm>
            <a:off x="2123440" y="295910"/>
            <a:ext cx="4824445" cy="36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gaps identified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 application of this paper is available only on iOS which has locked out many non-Apple users [2].</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There is no mention of doctor assigning prescription and medicines to the patient. Inventory and prescription are not handled by the admin [3].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 Mobile Application has logins for different profiles but does not support CRUD operations. [5].</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All the papers did not clearly explain about admin functionalities in the website. For example, Admin should be able to add users of all types using add user button – doctor, and patient. The role of each user is not mentioned in the total users’ page.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objectives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integrate the MERN stack to enable scalability and flexibility, making it simple to integrate new features and expand the system in the future.</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increase efficiency in administration by providing resources for tracking inventory, scheduling appointments, checking doctor availability, and creating hospital reports.</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improve patient care by providing a simple user friendly interface to the patients to schedule appointments, read prescriptions, and access medical data.</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enable real-time data access for doctors, admins, and patients, ensuring fast access to the website.</a:t>
            </a:r>
            <a:endParaRPr sz="1800">
              <a:latin typeface="Comic Sans MS" panose="030F0702030302020204" charset="0"/>
              <a:cs typeface="Comic Sans MS" panose="030F07020303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5140" y="212090"/>
            <a:ext cx="842772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400" u="sng">
                <a:latin typeface="Algerian" panose="04020705040A02060702"/>
                <a:ea typeface="Algerian" panose="04020705040A02060702"/>
                <a:cs typeface="Algerian" panose="04020705040A02060702"/>
                <a:sym typeface="Algerian" panose="04020705040A02060702"/>
              </a:rPr>
              <a:t>problem statement</a:t>
            </a:r>
            <a:endParaRPr lang="en-US"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056005"/>
            <a:ext cx="8428990" cy="3935730"/>
          </a:xfrm>
          <a:prstGeom prst="rect">
            <a:avLst/>
          </a:prstGeom>
        </p:spPr>
        <p:txBody>
          <a:bodyPr spcFirstLastPara="1" wrap="square" lIns="91425" tIns="45700" rIns="91425" bIns="45700" anchor="t" anchorCtr="0">
            <a:noAutofit/>
          </a:bodyPr>
          <a:lstStyle/>
          <a:p>
            <a:pPr marL="0" lvl="0" indent="0" algn="just" rtl="0">
              <a:lnSpc>
                <a:spcPct val="110000"/>
              </a:lnSpc>
              <a:spcBef>
                <a:spcPts val="0"/>
              </a:spcBef>
              <a:spcAft>
                <a:spcPts val="0"/>
              </a:spcAft>
              <a:buFont typeface="Wingdings" panose="05000000000000000000" charset="0"/>
              <a:buNone/>
            </a:pPr>
            <a:r>
              <a:rPr lang="en-US" altLang="en-US" sz="1800" b="0" dirty="0">
                <a:latin typeface="Comic Sans MS" panose="030F0702030302020204" charset="0"/>
                <a:ea typeface="Open Sans" panose="020B0606030504020204" pitchFamily="34" charset="0"/>
                <a:cs typeface="Open Sans" panose="020B0606030504020204" pitchFamily="34" charset="0"/>
                <a:sym typeface="+mn-ea"/>
              </a:rPr>
              <a:t>Manual inefficiencies that the hospitals routinely adopt to handle appointments, medications, and inventories result in errors, delay time, and hindrances to business. Hospital management is busy doing manual tracking of inventory and schedules of physicians and hence doesn't utilize resources properly. These problems adversely affect the quality of patient care and operational efficiency. Thus, there is a requirement for an automated, centralized, and user-friendly system to solve these problems. Thus, to operate hospitals efficiently is a feature-rich, web-based Hospital Management System (HMS) based on cutting-edge software technologies like MERN Stack, which help in automating hospital's key functions, makes working more efficient, ensures better and secure patient care, and scalability.</a:t>
            </a:r>
            <a:endParaRPr lang="en-US" altLang="en-US" sz="1800" b="0" dirty="0">
              <a:latin typeface="Comic Sans MS" panose="030F0702030302020204" charset="0"/>
              <a:ea typeface="Open Sans" panose="020B0606030504020204" pitchFamily="34" charset="0"/>
              <a:cs typeface="Open Sans" panose="020B0606030504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HARDWARE REQUIREMENTS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92835"/>
            <a:ext cx="8943975" cy="399224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OS - Windows/ Linux</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Execute instructions - Central processing unit (CPU)</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Displaying images - Graphics Processing unit (GPU)</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High storage capacity - Hard Disk Drives (HDD)</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Temporary Storage - Random Access memory (RAM)</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Device - Laptop/ Computer</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Processor - Intel Core i5</a:t>
            </a:r>
            <a:endParaRPr lang="en-US" sz="1800">
              <a:latin typeface="Comic Sans MS" panose="030F0702030302020204" charset="0"/>
              <a:cs typeface="Comic Sans MS" panose="030F07020303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SOFTWARE REQUIREMENTS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278255"/>
            <a:ext cx="8943975" cy="380682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FrontEnd - React.js, Bootstrap, CSS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BackEnd - Node.js, Express.js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Database - MongoDB atlas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Source Code editor- Visual Studio COde</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Local Host Browser - Firefox</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Windows Version - Windows 10 version and above</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Repository hosting - GitHub</a:t>
            </a:r>
            <a:endParaRPr lang="en-US" sz="1800">
              <a:latin typeface="Comic Sans MS" panose="030F0702030302020204" charset="0"/>
              <a:cs typeface="Comic Sans MS" panose="030F07020303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94310" y="1033145"/>
            <a:ext cx="2332990" cy="1778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b="0" u="sng">
                <a:latin typeface="Algerian" panose="04020705040A02060702"/>
                <a:ea typeface="Algerian" panose="04020705040A02060702"/>
                <a:cs typeface="Algerian" panose="04020705040A02060702"/>
                <a:sym typeface="Algerian" panose="04020705040A02060702"/>
              </a:rPr>
              <a:t>proposed </a:t>
            </a:r>
            <a:br>
              <a:rPr lang="en-US" b="0" u="sng">
                <a:latin typeface="Algerian" panose="04020705040A02060702"/>
                <a:ea typeface="Algerian" panose="04020705040A02060702"/>
                <a:cs typeface="Algerian" panose="04020705040A02060702"/>
                <a:sym typeface="Algerian" panose="04020705040A02060702"/>
              </a:rPr>
            </a:br>
            <a:r>
              <a:rPr lang="en-US" b="0" u="sng">
                <a:latin typeface="Algerian" panose="04020705040A02060702"/>
                <a:ea typeface="Algerian" panose="04020705040A02060702"/>
                <a:cs typeface="Algerian" panose="04020705040A02060702"/>
                <a:sym typeface="Algerian" panose="04020705040A02060702"/>
              </a:rPr>
              <a:t>architecture</a:t>
            </a:r>
            <a:endParaRPr lang="en-US" b="0" u="sng">
              <a:latin typeface="Algerian" panose="04020705040A02060702"/>
              <a:ea typeface="Algerian" panose="04020705040A02060702"/>
              <a:cs typeface="Algerian" panose="04020705040A02060702"/>
              <a:sym typeface="Algerian" panose="04020705040A02060702"/>
            </a:endParaRPr>
          </a:p>
        </p:txBody>
      </p:sp>
      <p:pic>
        <p:nvPicPr>
          <p:cNvPr id="2" name="Picture Placeholder 1" descr="Untitled Diagram2.drawio (1)_page-0001"/>
          <p:cNvPicPr>
            <a:picLocks noChangeAspect="1"/>
          </p:cNvPicPr>
          <p:nvPr>
            <p:ph type="pic" idx="2"/>
          </p:nvPr>
        </p:nvPicPr>
        <p:blipFill>
          <a:blip r:embed="rId2"/>
          <a:stretch>
            <a:fillRect/>
          </a:stretch>
        </p:blipFill>
        <p:spPr>
          <a:xfrm>
            <a:off x="2454275" y="167005"/>
            <a:ext cx="6506210" cy="48875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4942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1. Front End - React JS, CSS and Bootstrap:</a:t>
            </a:r>
            <a:endParaRPr lang="en-US" altLang="en-US" sz="1800" b="1">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This project has a user friendly interface for different profiles. There are 3 different logins – Admin, Doctor and Patient.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To install react project, run the command “npx create-react-app .” in the VS code. After the node modules are installed and we are ready to perform frontend logic.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I developed user-friendly dashboards, appointment booking forms, prescription management interfaces, and user account management pages. The other packages required  can be installed accordingly by “npm install”.</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675"/>
            <a:ext cx="8943975" cy="422021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2. Back End – Node JS, Express JS:</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Node JS is installed in the VS Code by using npm install or directly installing latest version from the Google. Express JS is a Node JS framework used to build the application offering middleware, routing, etc. The backend is divided into 4 parts mainly - Controllers, models, middlewares, and routes.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Controllers have the main backend logic of the application. It manages request responses. Middlewares controls the authentication purposes, such as to authenticate the users of application and also the requests coming.</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906780"/>
            <a:ext cx="8943975" cy="4000500"/>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Models has their own backend logics like doctor’s profile, admin’s profile etc. Routes establishes the communication between backend and frontend by having the endpoints if the frontend pages.</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b="1" u="sng">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3. Database – MongoDB, Mongoose:</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Mongo DB ensures to store the user credentials and their information. Mongoose helps to simplify the interaction with the database. Installation is done by “npm install mongoose” command. Create a project in MongoDB atlas to establish connection for the website.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5704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4. Dotenv:</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It is a module that enables the use of environment variables in a Node.js application. Dotenv is used to manage all our sensitive configuration variables, such as database connection strings, API keys, port number and secret tokens.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5. Axios:</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Axios is a node package which is used to fetch the doctor prescription, appointments, and their respective information from the database. And axios is also used in user authentication.</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pic>
        <p:nvPicPr>
          <p:cNvPr id="1" name="Picture Placeholder 0" descr="signup"/>
          <p:cNvPicPr>
            <a:picLocks noChangeAspect="1"/>
          </p:cNvPicPr>
          <p:nvPr>
            <p:ph type="pic" idx="2"/>
          </p:nvPr>
        </p:nvPicPr>
        <p:blipFill>
          <a:blip r:embed="rId2"/>
          <a:stretch>
            <a:fillRect/>
          </a:stretch>
        </p:blipFill>
        <p:spPr>
          <a:xfrm>
            <a:off x="1388745" y="1080770"/>
            <a:ext cx="6551417" cy="3096000"/>
          </a:xfrm>
          <a:prstGeom prst="rect">
            <a:avLst/>
          </a:prstGeom>
        </p:spPr>
      </p:pic>
      <p:sp>
        <p:nvSpPr>
          <p:cNvPr id="4" name="Text Box 3"/>
          <p:cNvSpPr txBox="1"/>
          <p:nvPr/>
        </p:nvSpPr>
        <p:spPr>
          <a:xfrm>
            <a:off x="405130" y="320675"/>
            <a:ext cx="8375015" cy="695960"/>
          </a:xfrm>
          <a:prstGeom prst="rect">
            <a:avLst/>
          </a:prstGeom>
          <a:noFill/>
        </p:spPr>
        <p:txBody>
          <a:bodyPr wrap="square" rtlCol="0">
            <a:noAutofit/>
          </a:bodyPr>
          <a:p>
            <a:pPr algn="ctr"/>
            <a:r>
              <a:rPr lang="en-US" altLang="en-GB" sz="3400" u="sng">
                <a:solidFill>
                  <a:schemeClr val="bg1"/>
                </a:solidFill>
                <a:latin typeface="Algerian" panose="04020705040A02060702"/>
                <a:ea typeface="Algerian" panose="04020705040A02060702"/>
                <a:cs typeface="Algerian" panose="04020705040A02060702"/>
                <a:sym typeface="Algerian" panose="04020705040A02060702"/>
              </a:rPr>
              <a:t>OUTPUT SCREENSHOTS</a:t>
            </a:r>
            <a:endParaRPr lang="en-US" altLang="en-GB" sz="3400" u="sng">
              <a:solidFill>
                <a:schemeClr val="bg1"/>
              </a:solidFill>
              <a:latin typeface="Algerian" panose="04020705040A02060702"/>
              <a:ea typeface="Algerian" panose="04020705040A02060702"/>
              <a:cs typeface="Algerian" panose="04020705040A02060702"/>
              <a:sym typeface="Algerian" panose="04020705040A02060702"/>
            </a:endParaRPr>
          </a:p>
          <a:p>
            <a:endParaRPr lang="en-US" altLang="en-GB" sz="3400" u="sng">
              <a:solidFill>
                <a:schemeClr val="bg1"/>
              </a:solidFill>
              <a:latin typeface="Algerian" panose="04020705040A02060702"/>
              <a:ea typeface="Algerian" panose="04020705040A02060702"/>
              <a:cs typeface="Algerian" panose="04020705040A02060702"/>
              <a:sym typeface="Algerian" panose="04020705040A02060702"/>
            </a:endParaRPr>
          </a:p>
        </p:txBody>
      </p:sp>
      <p:sp>
        <p:nvSpPr>
          <p:cNvPr id="5" name="Text Box 4"/>
          <p:cNvSpPr txBox="1"/>
          <p:nvPr/>
        </p:nvSpPr>
        <p:spPr>
          <a:xfrm>
            <a:off x="3822065" y="4323080"/>
            <a:ext cx="1593215" cy="368300"/>
          </a:xfrm>
          <a:prstGeom prst="rect">
            <a:avLst/>
          </a:prstGeom>
          <a:noFill/>
        </p:spPr>
        <p:txBody>
          <a:bodyPr wrap="square" rtlCol="0">
            <a:spAutoFit/>
          </a:bodyPr>
          <a:p>
            <a:r>
              <a:rPr lang="en-US" sz="1800">
                <a:solidFill>
                  <a:schemeClr val="bg1"/>
                </a:solidFill>
                <a:latin typeface="Comic Sans MS" panose="030F0702030302020204" charset="0"/>
                <a:cs typeface="Comic Sans MS" panose="030F0702030302020204" charset="0"/>
              </a:rPr>
              <a:t>Sign Up Page</a:t>
            </a:r>
            <a:endParaRPr lang="en-US" sz="1800">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4" name="Text Box 3"/>
          <p:cNvSpPr txBox="1"/>
          <p:nvPr/>
        </p:nvSpPr>
        <p:spPr>
          <a:xfrm>
            <a:off x="405130" y="320675"/>
            <a:ext cx="8169275" cy="614045"/>
          </a:xfrm>
          <a:prstGeom prst="rect">
            <a:avLst/>
          </a:prstGeom>
          <a:noFill/>
        </p:spPr>
        <p:txBody>
          <a:bodyPr wrap="square" rtlCol="0">
            <a:spAutoFit/>
          </a:bodyPr>
          <a:p>
            <a:pPr algn="ctr"/>
            <a:r>
              <a:rPr lang="en-US" sz="3400" u="sng">
                <a:solidFill>
                  <a:schemeClr val="bg1"/>
                </a:solidFill>
                <a:latin typeface="Algerian" panose="04020705040A02060702" charset="0"/>
                <a:cs typeface="Algerian" panose="04020705040A02060702" charset="0"/>
              </a:rPr>
              <a:t>output screenshots...</a:t>
            </a:r>
            <a:endParaRPr lang="en-US" sz="3400" u="sng">
              <a:solidFill>
                <a:schemeClr val="bg1"/>
              </a:solidFill>
              <a:latin typeface="Algerian" panose="04020705040A02060702" charset="0"/>
              <a:cs typeface="Algerian" panose="04020705040A02060702" charset="0"/>
            </a:endParaRPr>
          </a:p>
        </p:txBody>
      </p:sp>
      <p:sp>
        <p:nvSpPr>
          <p:cNvPr id="5" name="Text Box 4"/>
          <p:cNvSpPr txBox="1"/>
          <p:nvPr/>
        </p:nvSpPr>
        <p:spPr>
          <a:xfrm>
            <a:off x="3822065" y="4323080"/>
            <a:ext cx="1593215" cy="368300"/>
          </a:xfrm>
          <a:prstGeom prst="rect">
            <a:avLst/>
          </a:prstGeom>
          <a:noFill/>
        </p:spPr>
        <p:txBody>
          <a:bodyPr wrap="square" rtlCol="0">
            <a:spAutoFit/>
          </a:bodyPr>
          <a:p>
            <a:r>
              <a:rPr lang="en-US" sz="1800">
                <a:solidFill>
                  <a:schemeClr val="bg1"/>
                </a:solidFill>
                <a:latin typeface="Comic Sans MS" panose="030F0702030302020204" charset="0"/>
                <a:cs typeface="Comic Sans MS" panose="030F0702030302020204" charset="0"/>
              </a:rPr>
              <a:t>Login Page</a:t>
            </a:r>
            <a:endParaRPr lang="en-US" sz="1800">
              <a:solidFill>
                <a:schemeClr val="bg1"/>
              </a:solidFill>
              <a:latin typeface="Comic Sans MS" panose="030F0702030302020204" charset="0"/>
              <a:cs typeface="Comic Sans MS" panose="030F0702030302020204" charset="0"/>
            </a:endParaRPr>
          </a:p>
        </p:txBody>
      </p:sp>
      <p:pic>
        <p:nvPicPr>
          <p:cNvPr id="3" name="Picture Placeholder 2" descr="login"/>
          <p:cNvPicPr>
            <a:picLocks noChangeAspect="1"/>
          </p:cNvPicPr>
          <p:nvPr>
            <p:ph type="pic" idx="2"/>
          </p:nvPr>
        </p:nvPicPr>
        <p:blipFill>
          <a:blip r:embed="rId2"/>
          <a:stretch>
            <a:fillRect/>
          </a:stretch>
        </p:blipFill>
        <p:spPr>
          <a:xfrm>
            <a:off x="1539875" y="1139190"/>
            <a:ext cx="6349281" cy="30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RESULTS AND DISCUSSION</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4942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In this project, I have created an appointment booking system which helps patients to login to the website and book the doctor appointment and get the prescription given by the doctor. The results of this project include: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All the users – doctors, admins, and patients have a different dashboard respectively based on the permissions and each has different benefits.</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 sign up page is created for new user. After a successful registration, user is ready to login to the website.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After successful authentication, user can view the available doctors and their schedule. Users can select the doctor and book the appointment.</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RESULTS AND DISCUSSION...</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Patient’s dashboard has the facility to check the schedule and available slots of the doctor to schedule an appointment.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Admins can add, update and delete the user details which provide the authority of performing CRUD operation to the website.</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User profile is categorized as 3 profiles – Admin, Doctor and patient. Admin is the one who operate the prescriptions, inventory, and manage user details. Doctor can select their free time to check the patient and add the prescription. Patient can book the appointment and view the prescription.</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CONCLUSION AND FUTURE WORK</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The Hospital Management System implemented with the MERN stack effectively solves major issues such as appointment scheduling, patient record management, prescription management, and medicine inventory management. Automating repetitive tasks and providing role-based access, the system improves the efficiency, accuracy, and accessibility of healthcare facilities. It offers an easy-to-use interface for admins, doctors, and patients, making the experience smooth across all modules. The system helps in improved organization of data, less administrative burden, and enhanced patient care through prompt access to medical information.</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CONCLUSION AND FUTURE WORK...</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u="sng">
                <a:latin typeface="Algerian" panose="04020705040A02060702" charset="0"/>
                <a:cs typeface="Algerian" panose="04020705040A02060702" charset="0"/>
              </a:rPr>
              <a:t>Future Work</a:t>
            </a:r>
            <a:endParaRPr lang="en-US" altLang="en-US" sz="1800" u="sng">
              <a:latin typeface="Algerian" panose="04020705040A02060702" charset="0"/>
              <a:cs typeface="Algerian" panose="04020705040A02060702"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Developing an online payment module for appointment scheduling and inventory. Creating laboratory page in the future and to install a module for the patient to schedule for lab tests and produce reports and consult doctor. Developing an app for android and iOS to make the application more accessible so that individuals can use it conveniently in a vast array of various people. And lastly, to include regional languages such that users who cannot read English also be able to use the application.</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4505" y="212090"/>
            <a:ext cx="842899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reference links</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719580"/>
            <a:ext cx="8428990" cy="181038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Github Repository Link</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r>
              <a:rPr lang="en-US" sz="1800">
                <a:latin typeface="Comic Sans MS" panose="030F0702030302020204" charset="0"/>
                <a:cs typeface="Comic Sans MS" panose="030F0702030302020204" charset="0"/>
              </a:rPr>
              <a:t>https://github.com/Sahithya132002/Final-Year-Project</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endParaRPr lang="en-US" sz="1800" dirty="0">
              <a:solidFill>
                <a:schemeClr val="bg1"/>
              </a:solidFill>
              <a:latin typeface="Comic Sans MS" panose="030F0702030302020204" charset="0"/>
              <a:ea typeface="Calibri" panose="020F0502020204030204"/>
              <a:cs typeface="Comic Sans MS" panose="030F0702030302020204" charset="0"/>
              <a:sym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2559685" y="2042795"/>
            <a:ext cx="4024630" cy="105791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4000" b="0">
                <a:latin typeface="Algerian" panose="04020705040A02060702" charset="0"/>
                <a:ea typeface="Algerian" panose="04020705040A02060702"/>
                <a:cs typeface="Algerian" panose="04020705040A02060702" charset="0"/>
                <a:sym typeface="Algerian" panose="04020705040A02060702"/>
              </a:rPr>
              <a:t>thank you</a:t>
            </a:r>
            <a:r>
              <a:rPr lang="en-GB" sz="4000" b="0">
                <a:latin typeface="Algerian" panose="04020705040A02060702" charset="0"/>
                <a:ea typeface="Algerian" panose="04020705040A02060702"/>
                <a:cs typeface="Algerian" panose="04020705040A02060702" charset="0"/>
                <a:sym typeface="Algerian" panose="04020705040A02060702"/>
              </a:rPr>
              <a:t> </a:t>
            </a:r>
            <a:endParaRPr sz="4000" b="0">
              <a:latin typeface="Algerian" panose="04020705040A02060702" charset="0"/>
              <a:ea typeface="Algerian" panose="04020705040A02060702"/>
              <a:cs typeface="Algerian" panose="04020705040A02060702" charset="0"/>
              <a:sym typeface="Algerian" panose="04020705040A02060702"/>
            </a:endParaRPr>
          </a:p>
        </p:txBody>
      </p:sp>
    </p:spTree>
  </p:cSld>
  <p:clrMapOvr>
    <a:masterClrMapping/>
  </p:clrMapOvr>
</p:sld>
</file>

<file path=ppt/theme/theme1.xml><?xml version="1.0" encoding="utf-8"?>
<a:theme xmlns:a="http://schemas.openxmlformats.org/drawingml/2006/main" name="template">
  <a:themeElements>
    <a:clrScheme name="template 13">
      <a:dk1>
        <a:srgbClr val="4D4D4D"/>
      </a:dk1>
      <a:lt1>
        <a:srgbClr val="FFFFFF"/>
      </a:lt1>
      <a:dk2>
        <a:srgbClr val="000000"/>
      </a:dk2>
      <a:lt2>
        <a:srgbClr val="043000"/>
      </a:lt2>
      <a:accent1>
        <a:srgbClr val="33A900"/>
      </a:accent1>
      <a:accent2>
        <a:srgbClr val="525B56"/>
      </a:accent2>
      <a:accent3>
        <a:srgbClr val="FFFFFF"/>
      </a:accent3>
      <a:accent4>
        <a:srgbClr val="404040"/>
      </a:accent4>
      <a:accent5>
        <a:srgbClr val="ADD1AA"/>
      </a:accent5>
      <a:accent6>
        <a:srgbClr val="49524D"/>
      </a:accent6>
      <a:hlink>
        <a:srgbClr val="747D79"/>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8589</Words>
  <Application>WPS Slides</Application>
  <PresentationFormat/>
  <Paragraphs>153</Paragraphs>
  <Slides>23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23</vt:i4>
      </vt:variant>
    </vt:vector>
  </HeadingPairs>
  <TitlesOfParts>
    <vt:vector size="42" baseType="lpstr">
      <vt:lpstr>Arial</vt:lpstr>
      <vt:lpstr>SimSun</vt:lpstr>
      <vt:lpstr>Wingdings</vt:lpstr>
      <vt:lpstr>Arial</vt:lpstr>
      <vt:lpstr>Algerian</vt:lpstr>
      <vt:lpstr>Helmet</vt:lpstr>
      <vt:lpstr>Yu Gothic</vt:lpstr>
      <vt:lpstr>Comic Sans MS</vt:lpstr>
      <vt:lpstr>Merriweather</vt:lpstr>
      <vt:lpstr>Cambria Math</vt:lpstr>
      <vt:lpstr>Algerian</vt:lpstr>
      <vt:lpstr>Wingdings</vt:lpstr>
      <vt:lpstr>Open Sans</vt:lpstr>
      <vt:lpstr>Segoe Print</vt:lpstr>
      <vt:lpstr>Calibri</vt:lpstr>
      <vt:lpstr>Microsoft YaHei</vt:lpstr>
      <vt:lpstr>Arial Unicode MS</vt:lpstr>
      <vt:lpstr>Times New Roman</vt:lpstr>
      <vt:lpstr>template</vt:lpstr>
      <vt:lpstr>HOSPITAL Management System​ USING MERN STACK</vt:lpstr>
      <vt:lpstr>Overview </vt:lpstr>
      <vt:lpstr>introduction </vt:lpstr>
      <vt:lpstr>introduction... </vt:lpstr>
      <vt:lpstr>PowerPoint 演示文稿</vt:lpstr>
      <vt:lpstr>gaps identified</vt:lpstr>
      <vt:lpstr>objectives</vt:lpstr>
      <vt:lpstr>problem statement</vt:lpstr>
      <vt:lpstr>objectives</vt:lpstr>
      <vt:lpstr>HARDWARE REQUIREMENTS</vt:lpstr>
      <vt:lpstr>proposed  architecture</vt:lpstr>
      <vt:lpstr>METHODOLOGY ADAPTED</vt:lpstr>
      <vt:lpstr>METHODOLOGY ADAPTED...</vt:lpstr>
      <vt:lpstr>METHODOLOGY ADAPTED...</vt:lpstr>
      <vt:lpstr>METHODOLOGY ADAPTED...</vt:lpstr>
      <vt:lpstr>RESULTS AND DISCUSSION</vt:lpstr>
      <vt:lpstr>PowerPoint 演示文稿</vt:lpstr>
      <vt:lpstr>RESULTS AND DISCUSSION</vt:lpstr>
      <vt:lpstr>RESULTS AND DISCUSSION...</vt:lpstr>
      <vt:lpstr>RESULTS AND DISCUSSION...</vt:lpstr>
      <vt:lpstr>CONCLUSION AND FUTURE WORK</vt:lpstr>
      <vt:lpstr>reference links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Odyssey  Learning Management System​ </dc:title>
  <dc:creator/>
  <cp:lastModifiedBy>Bhaskara Sahithya</cp:lastModifiedBy>
  <cp:revision>42</cp:revision>
  <dcterms:created xsi:type="dcterms:W3CDTF">2023-10-17T15:33:00Z</dcterms:created>
  <dcterms:modified xsi:type="dcterms:W3CDTF">2025-04-11T09:37:43Z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C6D8A1F7266A47DD90C5D124C5625493_13</vt:lpwstr>
  </property>
  <property fmtid="{D5CDD505-2E9C-101B-9397-08002B2CF9AE}" pid="3" name="KSOProductBuildVer">
    <vt:lpwstr>1033-12.2.0.20782</vt:lpwstr>
  </property>
  <property fmtid="{D5CDD505-2E9C-101B-9397-08002B2CF9AE}" pid="4" name="NXPowerLiteLastOptimized">
    <vt:lpwstr>533438</vt:lpwstr>
  </property>
  <property fmtid="{D5CDD505-2E9C-101B-9397-08002B2CF9AE}" pid="5" name="NXPowerLiteSettings">
    <vt:lpwstr>F7000400038000</vt:lpwstr>
  </property>
  <property fmtid="{D5CDD505-2E9C-101B-9397-08002B2CF9AE}" pid="6" name="NXPowerLiteVersion">
    <vt:lpwstr>S10.0.0</vt:lpwstr>
  </property>
</Properties>
</file>