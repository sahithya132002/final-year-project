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314" r:id="rId8"/>
    <p:sldId id="291" r:id="rId9"/>
    <p:sldId id="307" r:id="rId10"/>
    <p:sldId id="292" r:id="rId11"/>
    <p:sldId id="308" r:id="rId12"/>
    <p:sldId id="297" r:id="rId13"/>
    <p:sldId id="300" r:id="rId14"/>
    <p:sldId id="302" r:id="rId15"/>
    <p:sldId id="303" r:id="rId16"/>
  </p:sldIdLst>
  <p:sldSz cx="9144000" cy="5143500"/>
  <p:notesSz cx="6858000" cy="9144000"/>
  <p:embeddedFontLst>
    <p:embeddedFont>
      <p:font typeface="Algerian" panose="04020705040A02060702" charset="0"/>
      <p:regular r:id="rId20"/>
    </p:embeddedFont>
    <p:embeddedFont>
      <p:font typeface="Comic Sans MS" panose="030F0702030302020204" charset="0"/>
      <p:regular r:id="rId21"/>
      <p:bold r:id="rId22"/>
      <p:italic r:id="rId23"/>
      <p:boldItalic r:id="rId24"/>
    </p:embeddedFont>
    <p:embeddedFont>
      <p:font typeface="Merriweather" panose="00000500000000000000"/>
      <p:regular r:id="rId25"/>
      <p:bold r:id="rId26"/>
      <p:italic r:id="rId27"/>
      <p:boldItalic r:id="rId28"/>
    </p:embeddedFont>
    <p:embeddedFont>
      <p:font typeface="Cambria Math" panose="02040503050406030204"/>
      <p:regular r:id="rId29"/>
    </p:embeddedFont>
    <p:embeddedFont>
      <p:font typeface="Algerian" panose="04020705040A02060702"/>
      <p:regular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80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02"/>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0" Type="http://schemas.openxmlformats.org/officeDocument/2006/relationships/font" Target="fonts/font11.fntdata"/><Relationship Id="rId3" Type="http://schemas.openxmlformats.org/officeDocument/2006/relationships/slide" Target="slides/slide1.xml"/><Relationship Id="rId29" Type="http://schemas.openxmlformats.org/officeDocument/2006/relationships/font" Target="fonts/font10.fntdata"/><Relationship Id="rId28" Type="http://schemas.openxmlformats.org/officeDocument/2006/relationships/font" Target="fonts/font9.fntdata"/><Relationship Id="rId27" Type="http://schemas.openxmlformats.org/officeDocument/2006/relationships/font" Target="fonts/font8.fntdata"/><Relationship Id="rId26" Type="http://schemas.openxmlformats.org/officeDocument/2006/relationships/font" Target="fonts/font7.fntdata"/><Relationship Id="rId25" Type="http://schemas.openxmlformats.org/officeDocument/2006/relationships/font" Target="fonts/font6.fntdata"/><Relationship Id="rId24" Type="http://schemas.openxmlformats.org/officeDocument/2006/relationships/font" Target="fonts/font5.fntdata"/><Relationship Id="rId23" Type="http://schemas.openxmlformats.org/officeDocument/2006/relationships/font" Target="fonts/font4.fntdata"/><Relationship Id="rId22" Type="http://schemas.openxmlformats.org/officeDocument/2006/relationships/font" Target="fonts/font3.fntdata"/><Relationship Id="rId21" Type="http://schemas.openxmlformats.org/officeDocument/2006/relationships/font" Target="fonts/font2.fntdata"/><Relationship Id="rId20" Type="http://schemas.openxmlformats.org/officeDocument/2006/relationships/font" Target="fonts/font1.fntdata"/><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9.xml"/><Relationship Id="rId2" Type="http://schemas.openxmlformats.org/officeDocument/2006/relationships/image" Target="../media/image4.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9.xml"/><Relationship Id="rId2" Type="http://schemas.openxmlformats.org/officeDocument/2006/relationships/image" Target="../media/image5.jpeg"/><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17/10/2024</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27125"/>
            <a:ext cx="8428990" cy="377952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GB" sz="1800">
                <a:latin typeface="Comic Sans MS" panose="030F0702030302020204" charset="0"/>
                <a:cs typeface="Comic Sans MS" panose="030F0702030302020204" charset="0"/>
              </a:rPr>
              <a:t>Introduction</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Gaps identified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Objectives</a:t>
            </a:r>
            <a:r>
              <a:rPr lang="en-GB" sz="1800">
                <a:latin typeface="Comic Sans MS" panose="030F0702030302020204" charset="0"/>
                <a:cs typeface="Comic Sans MS" panose="030F0702030302020204" charset="0"/>
              </a:rPr>
              <a:t> </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Problem Statement</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Project Plan</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Proposed Architecture</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Technologies to be used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Reference Links</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marL="285750" indent="-285750" algn="just">
              <a:lnSpc>
                <a:spcPct val="150000"/>
              </a:lnSpc>
              <a:buFont typeface="Wingdings" panose="05000000000000000000" charset="0"/>
              <a:buChar char="q"/>
            </a:pPr>
            <a:r>
              <a:rPr lang="en-US" sz="1800" dirty="0">
                <a:latin typeface="Comic Sans MS" panose="030F0702030302020204" charset="0"/>
                <a:ea typeface="Open Sans" panose="020B0606030504020204" pitchFamily="34" charset="0"/>
                <a:cs typeface="Open Sans" panose="020B0606030504020204" pitchFamily="34" charset="0"/>
                <a:sym typeface="+mn-ea"/>
              </a:rPr>
              <a:t>A hospital management system (HMS) is a comprehensive software solution designed to streamline and automate various administrative, clinical, and financial processes within a healthcare facility.</a:t>
            </a:r>
            <a:endParaRPr lang="en-US" sz="1800" dirty="0">
              <a:latin typeface="Comic Sans MS" panose="030F0702030302020204" charset="0"/>
              <a:ea typeface="Open Sans" panose="020B0606030504020204" pitchFamily="34" charset="0"/>
              <a:cs typeface="Open Sans" panose="020B0606030504020204" pitchFamily="3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a:t>
            </a:r>
            <a:r>
              <a:rPr lang="en-US" altLang="en-GB" sz="1800">
                <a:latin typeface="Comic Sans MS" panose="030F0702030302020204" charset="0"/>
                <a:cs typeface="Comic Sans MS" panose="030F0702030302020204" charset="0"/>
              </a:rPr>
              <a:t> </a:t>
            </a:r>
            <a:r>
              <a:rPr lang="en-GB" sz="1800">
                <a:latin typeface="Comic Sans MS" panose="030F0702030302020204" charset="0"/>
                <a:cs typeface="Comic Sans MS" panose="030F0702030302020204" charset="0"/>
              </a:rPr>
              <a:t>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 name="Text Placeholder 4"/>
          <p:cNvSpPr/>
          <p:nvPr>
            <p:ph type="body" idx="1"/>
          </p:nvPr>
        </p:nvSpPr>
        <p:spPr/>
        <p:txBody>
          <a:bodyPr/>
          <a:p>
            <a:pPr algn="ctr"/>
            <a:r>
              <a:rPr lang="en-US" sz="2000">
                <a:latin typeface="Algerian" panose="04020705040A02060702" charset="0"/>
                <a:cs typeface="Algerian" panose="04020705040A02060702" charset="0"/>
              </a:rPr>
              <a:t>Working of MERN Stack</a:t>
            </a:r>
            <a:endParaRPr lang="en-US" sz="2000">
              <a:latin typeface="Algerian" panose="04020705040A02060702" charset="0"/>
              <a:cs typeface="Algerian" panose="04020705040A02060702" charset="0"/>
            </a:endParaRPr>
          </a:p>
        </p:txBody>
      </p:sp>
      <p:pic>
        <p:nvPicPr>
          <p:cNvPr id="3" name="Picture Placeholder 2" descr="mern"/>
          <p:cNvPicPr>
            <a:picLocks noChangeAspect="1"/>
          </p:cNvPicPr>
          <p:nvPr>
            <p:ph type="pic" idx="2"/>
          </p:nvPr>
        </p:nvPicPr>
        <p:blipFill>
          <a:blip r:embed="rId2"/>
          <a:stretch>
            <a:fillRect/>
          </a:stretch>
        </p:blipFill>
        <p:spPr>
          <a:xfrm>
            <a:off x="2123440" y="295910"/>
            <a:ext cx="4824445" cy="360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 may not be accessible to individuals with limited internet access or technological proficiency [4].</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a:t>
            </a:r>
            <a:r>
              <a:rPr lang="en-US" sz="1800">
                <a:latin typeface="Comic Sans MS" panose="030F0702030302020204" charset="0"/>
                <a:cs typeface="Comic Sans MS" panose="030F0702030302020204" charset="0"/>
              </a:rPr>
              <a:t>’ </a:t>
            </a:r>
            <a:r>
              <a:rPr sz="1800">
                <a:latin typeface="Comic Sans MS" panose="030F0702030302020204" charset="0"/>
                <a:cs typeface="Comic Sans MS" panose="030F0702030302020204" charset="0"/>
              </a:rPr>
              <a:t>s reliability in accurately directing patients to the right department based on their symptoms might be a challenge, especially if the symptoms are complex or require in-person evaluation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responsive of the application needs to be implemented to boost the application performance and to increase the availability of the website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Scalability to real world hospital scenario where large number of patients who want to access the application and requires complex scheduling requirements [7].</a:t>
            </a:r>
            <a:endParaRPr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527175"/>
            <a:ext cx="8428990" cy="2794000"/>
          </a:xfrm>
          <a:prstGeom prst="rect">
            <a:avLst/>
          </a:prstGeom>
        </p:spPr>
        <p:txBody>
          <a:bodyPr spcFirstLastPara="1" wrap="square" lIns="91425" tIns="45700" rIns="91425" bIns="45700" anchor="t" anchorCtr="0">
            <a:noAutofit/>
          </a:bodyPr>
          <a:lstStyle/>
          <a:p>
            <a:pPr marL="0" lvl="0" indent="0" algn="just" rtl="0">
              <a:lnSpc>
                <a:spcPct val="100000"/>
              </a:lnSpc>
              <a:spcBef>
                <a:spcPts val="0"/>
              </a:spcBef>
              <a:spcAft>
                <a:spcPts val="0"/>
              </a:spcAft>
              <a:buFont typeface="Wingdings" panose="05000000000000000000" charset="0"/>
              <a:buNone/>
            </a:pPr>
            <a:r>
              <a:rPr lang="en-US" sz="1800" b="0" dirty="0">
                <a:latin typeface="Comic Sans MS" panose="030F0702030302020204" charset="0"/>
                <a:ea typeface="Open Sans" panose="020B0606030504020204" pitchFamily="34" charset="0"/>
                <a:cs typeface="Open Sans" panose="020B0606030504020204" pitchFamily="34" charset="0"/>
                <a:sym typeface="+mn-ea"/>
              </a:rPr>
              <a:t>Ineffective manual processes in hospitals lead to mistakes, increased waiting times, and operational obstacles, affecting appointment management, medication tracking, and inventory control. Doctors struggle with resource management, while patients face difficulties in scheduling appointments and accessing medical records. Hospital administrators are burdened with manual tasks, impacting patient care quality and operational efficiency. Therefore, a comprehensive, web-based Hospital Management System (HMS) using the MERN stack is essential to automate key functions, improve efficiency, and enhance patient care while ensuring data security and scalability.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63525" y="212090"/>
            <a:ext cx="693801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project plan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263525" y="1035685"/>
            <a:ext cx="8649970" cy="3898265"/>
          </a:xfrm>
          <a:prstGeom prst="rect">
            <a:avLst/>
          </a:prstGeom>
        </p:spPr>
        <p:txBody>
          <a:bodyPr spcFirstLastPara="1" wrap="square" lIns="91425" tIns="45700" rIns="91425" bIns="45700" anchor="t" anchorCtr="0">
            <a:noAutofit/>
          </a:bodyPr>
          <a:lstStyle/>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1: Project planning and brainstorming (July)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2: Review 0 and Literature Survey (August)</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3: Finding gaps in literature survey (September)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4: Proposed Architecture and Review 1 (October)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5: Installing packages and Frontend Implementation (November)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6: Backend Implementation (December)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7: Review 2 (January)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Final Phase: Review 3 (February)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t>
            </a:r>
            <a:br>
              <a:rPr lang="en-US" b="0" u="sng">
                <a:latin typeface="Algerian" panose="04020705040A02060702"/>
                <a:ea typeface="Algerian" panose="04020705040A02060702"/>
                <a:cs typeface="Algerian" panose="04020705040A02060702"/>
                <a:sym typeface="Algerian" panose="04020705040A02060702"/>
              </a:rPr>
            </a:br>
            <a:r>
              <a:rPr lang="en-US" b="0" u="sng">
                <a:latin typeface="Algerian" panose="04020705040A02060702"/>
                <a:ea typeface="Algerian" panose="04020705040A02060702"/>
                <a:cs typeface="Algerian" panose="04020705040A02060702"/>
                <a:sym typeface="Algerian" panose="04020705040A02060702"/>
              </a:rPr>
              <a:t>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2" name="Picture Placeholder 1"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technologies </a:t>
            </a:r>
            <a:r>
              <a:rPr lang="en-US" sz="3400" u="sng">
                <a:latin typeface="Algerian" panose="04020705040A02060702"/>
                <a:ea typeface="Algerian" panose="04020705040A02060702"/>
                <a:cs typeface="Algerian" panose="04020705040A02060702"/>
                <a:sym typeface="Algerian" panose="04020705040A02060702"/>
              </a:rPr>
              <a:t>to be used</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297305"/>
            <a:ext cx="3804920" cy="342392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MongoDB                                 </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Express.js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React.js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Node.js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Dotenv</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Bootstrap</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3766</Words>
  <Application>WPS Presentation</Application>
  <PresentationFormat/>
  <Paragraphs>81</Paragraphs>
  <Slides>13</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13</vt:i4>
      </vt:variant>
    </vt:vector>
  </HeadingPairs>
  <TitlesOfParts>
    <vt:vector size="31" baseType="lpstr">
      <vt:lpstr>Arial</vt:lpstr>
      <vt:lpstr>SimSun</vt:lpstr>
      <vt:lpstr>Wingdings</vt:lpstr>
      <vt:lpstr>Arial</vt:lpstr>
      <vt:lpstr>Algerian</vt:lpstr>
      <vt:lpstr>Helmet</vt:lpstr>
      <vt:lpstr>Yu Gothic</vt:lpstr>
      <vt:lpstr>Comic Sans MS</vt:lpstr>
      <vt:lpstr>Merriweather</vt:lpstr>
      <vt:lpstr>Cambria Math</vt:lpstr>
      <vt:lpstr>Algerian</vt:lpstr>
      <vt:lpstr>Wingdings</vt:lpstr>
      <vt:lpstr>Open Sans</vt:lpstr>
      <vt:lpstr>Segoe Print</vt:lpstr>
      <vt:lpstr>Calibri</vt:lpstr>
      <vt:lpstr>Microsoft YaHei</vt:lpstr>
      <vt:lpstr>Arial Unicode MS</vt:lpstr>
      <vt:lpstr>template</vt:lpstr>
      <vt:lpstr>HOSPITAL Management System​ USING MERN STACK</vt:lpstr>
      <vt:lpstr>Overview </vt:lpstr>
      <vt:lpstr>introduction </vt:lpstr>
      <vt:lpstr>introduction... </vt:lpstr>
      <vt:lpstr>Overview </vt:lpstr>
      <vt:lpstr>gaps identified</vt:lpstr>
      <vt:lpstr>objectives</vt:lpstr>
      <vt:lpstr>problem statement</vt:lpstr>
      <vt:lpstr>project plan</vt:lpstr>
      <vt:lpstr>proposed  architecture</vt:lpstr>
      <vt:lpstr>technologies to be used</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bsahi</cp:lastModifiedBy>
  <cp:revision>29</cp:revision>
  <dcterms:created xsi:type="dcterms:W3CDTF">2023-10-17T15:33:00Z</dcterms:created>
  <dcterms:modified xsi:type="dcterms:W3CDTF">2024-10-17T02:27:51Z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0E299FB02BB04EFEADDFC2255BBFB933_13</vt:lpwstr>
  </property>
  <property fmtid="{D5CDD505-2E9C-101B-9397-08002B2CF9AE}" pid="3" name="KSOProductBuildVer">
    <vt:lpwstr>1033-12.2.0.18283</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